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87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5 min</c:v>
                </c:pt>
                <c:pt idx="1">
                  <c:v>15 min</c:v>
                </c:pt>
                <c:pt idx="2">
                  <c:v>60 min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1.936</c:v>
                </c:pt>
                <c:pt idx="1">
                  <c:v>3.444</c:v>
                </c:pt>
                <c:pt idx="2">
                  <c:v>7.014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HistGradientBoosting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5 min</c:v>
                </c:pt>
                <c:pt idx="1">
                  <c:v>15 min</c:v>
                </c:pt>
                <c:pt idx="2">
                  <c:v>60 min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1.818</c:v>
                </c:pt>
                <c:pt idx="1">
                  <c:v>3.229</c:v>
                </c:pt>
                <c:pt idx="2">
                  <c:v>6.132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RandomForest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5 min</c:v>
                </c:pt>
                <c:pt idx="1">
                  <c:v>15 min</c:v>
                </c:pt>
                <c:pt idx="2">
                  <c:v>60 min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1.795</c:v>
                </c:pt>
                <c:pt idx="1">
                  <c:v>3.228</c:v>
                </c:pt>
                <c:pt idx="2">
                  <c:v>6.126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Test RMSE ↓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926" y="1753615"/>
            <a:ext cx="424243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0913" y="59182"/>
            <a:ext cx="11390172" cy="795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83950" y="6449170"/>
            <a:ext cx="2597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96117" y="4618948"/>
            <a:ext cx="429350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defRPr sz="1600" b="1">
                <a:solidFill>
                  <a:srgbClr val="262626"/>
                </a:solidFill>
                <a:latin typeface="Times New Roman"/>
              </a:defRPr>
            </a:pPr>
            <a:r>
              <a:t>Batch No: [To be filled]    |    Names of Batch Members (Reg. No.): [To be filled]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95999" y="4618948"/>
            <a:ext cx="5982378" cy="145039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Under the guidance of: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b="1" dirty="0">
                <a:solidFill>
                  <a:schemeClr val="tx1"/>
                </a:solidFill>
                <a:latin typeface="Times New Roman"/>
                <a:cs typeface="Times New Roman"/>
              </a:rPr>
              <a:t>Dr.</a:t>
            </a:r>
            <a:r>
              <a:rPr b="1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/>
                <a:cs typeface="Times New Roman"/>
              </a:rPr>
              <a:t>V</a:t>
            </a:r>
            <a:r>
              <a:rPr b="1" spc="-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/>
                <a:cs typeface="Times New Roman"/>
              </a:rPr>
              <a:t>Lakshmi</a:t>
            </a:r>
            <a:r>
              <a:rPr b="1" spc="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chemeClr val="tx1"/>
                </a:solidFill>
                <a:latin typeface="Times New Roman"/>
                <a:cs typeface="Times New Roman"/>
              </a:rPr>
              <a:t>Chetana</a:t>
            </a:r>
            <a:endParaRPr lang="en-US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10"/>
              </a:spcBef>
            </a:pP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	Assistant</a:t>
            </a:r>
            <a:r>
              <a:rPr lang="en-US" sz="1800" b="1" spc="-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Professor</a:t>
            </a:r>
            <a:r>
              <a:rPr lang="en-US" sz="1800" b="1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(Sl.</a:t>
            </a:r>
            <a:r>
              <a:rPr lang="en-US" sz="1800" b="1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Gr.)</a:t>
            </a:r>
            <a:endParaRPr lang="en-US"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	Department of Computer Science and Engineering,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	School of Computing</a:t>
            </a: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4292" y="4814696"/>
            <a:ext cx="274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grpSp>
        <p:nvGrpSpPr>
          <p:cNvPr id="10" name="Google Shape;91;p1">
            <a:extLst>
              <a:ext uri="{FF2B5EF4-FFF2-40B4-BE49-F238E27FC236}">
                <a16:creationId xmlns:a16="http://schemas.microsoft.com/office/drawing/2014/main" id="{AE640556-CF11-EB18-5863-62CCFE2CAF90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11" name="Google Shape;92;p1">
              <a:extLst>
                <a:ext uri="{FF2B5EF4-FFF2-40B4-BE49-F238E27FC236}">
                  <a16:creationId xmlns:a16="http://schemas.microsoft.com/office/drawing/2014/main" id="{0D582E0F-A53F-F6EF-77A9-718BBC254DE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93;p1">
              <a:extLst>
                <a:ext uri="{FF2B5EF4-FFF2-40B4-BE49-F238E27FC236}">
                  <a16:creationId xmlns:a16="http://schemas.microsoft.com/office/drawing/2014/main" id="{D740D307-06E2-1E08-9835-FEAE7B0572C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94;p1">
              <a:extLst>
                <a:ext uri="{FF2B5EF4-FFF2-40B4-BE49-F238E27FC236}">
                  <a16:creationId xmlns:a16="http://schemas.microsoft.com/office/drawing/2014/main" id="{B7FB8DDB-44E7-0050-A75B-02B9BC41144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49" name="Graphic 1">
            <a:extLst>
              <a:ext uri="{FF2B5EF4-FFF2-40B4-BE49-F238E27FC236}">
                <a16:creationId xmlns:a16="http://schemas.microsoft.com/office/drawing/2014/main" id="{048D7681-75E6-57CF-A7AF-F16379489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5" b="-496"/>
          <a:stretch>
            <a:fillRect/>
          </a:stretch>
        </p:blipFill>
        <p:spPr bwMode="auto">
          <a:xfrm>
            <a:off x="2897801" y="355456"/>
            <a:ext cx="5982378" cy="132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91B15839-8029-3F68-84EA-A0C0B4739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690" y="1489838"/>
            <a:ext cx="5562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______________________________________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AMARAVATI CAMPUS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3342F9-C67C-DE0B-C208-1B86AE4E318D}"/>
              </a:ext>
            </a:extLst>
          </p:cNvPr>
          <p:cNvSpPr txBox="1"/>
          <p:nvPr/>
        </p:nvSpPr>
        <p:spPr>
          <a:xfrm>
            <a:off x="1600200" y="3048000"/>
            <a:ext cx="9448800" cy="1051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2200" b="1">
                <a:solidFill>
                  <a:srgbClr val="C00000"/>
                </a:solidFill>
                <a:latin typeface="Times New Roman"/>
              </a:defRPr>
            </a:pPr>
            <a:r>
              <a:t>Tentative Title: Real-Time Traffic Congestion &amp; Accident Analytics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054" y="158505"/>
            <a:ext cx="113901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algn="ctr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>
                <a:solidFill>
                  <a:srgbClr val="3E3E3E"/>
                </a:solidFill>
              </a:rPr>
              <a:t>Agenda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02096" y="695571"/>
            <a:ext cx="11267401" cy="5768887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(About the topic)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of Work 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work (Clearly state the goals of the project)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  <a:r>
              <a:rPr lang="en-US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key existing works in your domain and identify gaps in those works)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1319213" lvl="8" indent="-455613">
              <a:spcBef>
                <a:spcPts val="1305"/>
              </a:spcBef>
              <a:buFont typeface="Wingdings"/>
              <a:buChar char=""/>
              <a:tabLst>
                <a:tab pos="1198563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approach used </a:t>
            </a:r>
          </a:p>
          <a:p>
            <a:pPr marL="1319213" lvl="1" indent="-455613">
              <a:spcBef>
                <a:spcPts val="1305"/>
              </a:spcBef>
              <a:buFont typeface="Wingdings"/>
              <a:buChar char=""/>
              <a:tabLst>
                <a:tab pos="1319213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or system architecture (Draw architecture diagram)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of the Dataset used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used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Results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469265" algn="l"/>
              </a:tabLst>
            </a:pPr>
            <a:r>
              <a:rPr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61429E26-2850-D401-C0BA-EA2EBF40AA66}"/>
              </a:ext>
            </a:extLst>
          </p:cNvPr>
          <p:cNvGrpSpPr/>
          <p:nvPr/>
        </p:nvGrpSpPr>
        <p:grpSpPr>
          <a:xfrm>
            <a:off x="54965" y="6441939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0F1D4765-5974-AD5D-46B9-3CC17BE84C1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E0B71BDD-65FF-65C5-3C32-24C5D62F39A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C8C0778C-9DEC-51D7-206A-B139E621244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6F67-8B0C-01D7-F3DC-BFDA959A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369332"/>
          </a:xfrm>
        </p:spPr>
        <p:txBody>
          <a:bodyPr/>
          <a:lstStyle/>
          <a:p>
            <a:pPr algn="ctr"/>
            <a:r>
              <a:rPr lang="en-US" dirty="0"/>
              <a:t>Literature Survey</a:t>
            </a:r>
          </a:p>
        </p:txBody>
      </p:sp>
      <p:grpSp>
        <p:nvGrpSpPr>
          <p:cNvPr id="3" name="Google Shape;91;p1">
            <a:extLst>
              <a:ext uri="{FF2B5EF4-FFF2-40B4-BE49-F238E27FC236}">
                <a16:creationId xmlns:a16="http://schemas.microsoft.com/office/drawing/2014/main" id="{3B87E95A-9925-8BB8-8783-3EAFB0B074DE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5" name="Google Shape;92;p1">
              <a:extLst>
                <a:ext uri="{FF2B5EF4-FFF2-40B4-BE49-F238E27FC236}">
                  <a16:creationId xmlns:a16="http://schemas.microsoft.com/office/drawing/2014/main" id="{B908923B-10B2-0D68-9693-C11755AE6E1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93;p1">
              <a:extLst>
                <a:ext uri="{FF2B5EF4-FFF2-40B4-BE49-F238E27FC236}">
                  <a16:creationId xmlns:a16="http://schemas.microsoft.com/office/drawing/2014/main" id="{11C1245C-467E-9FDC-DB03-77E03CBFB57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94;p1">
              <a:extLst>
                <a:ext uri="{FF2B5EF4-FFF2-40B4-BE49-F238E27FC236}">
                  <a16:creationId xmlns:a16="http://schemas.microsoft.com/office/drawing/2014/main" id="{0B4CAC74-C81C-C0D7-3321-9040035DDA8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2011680"/>
                <a:gridCol w="3200400"/>
                <a:gridCol w="2953512"/>
              </a:tblGrid>
              <a:tr h="10515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Reference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Year of Publication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Datasets used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Limitations of existing work / Research Gaps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[1] Y. Li, R. Yu, C. Shahabi, Y. Liu — Diffusion Convolutional Recurrent Neural Network (DCRNN), ICLR.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METR-LA; PEMS-BAY (325 sensors, Bay Area, Jan–May 2017)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Models traffic as diffusion on a directed graph; GRU encoder–decoder with scheduled sampling; +12–15% over baselines.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Heavy graph-RNN training cost; long-horizon error still grows; needs full sensor graph (not a live-incident view).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[2] B. Yu, H. Yin, Z. Zhu — Spatio-Temporal Graph Convolutional Networks (STGCN), IJCAI, pp. 3634–3640.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BJER4M / PeMS-style loop-detector networks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Fully convolutional ST-Conv blocks (temporal gating + graph conv); faster training, fewer parameters than RNN designs.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Fixed graph structure; limited incident/accident modelling; mid/long-term accuracy degrades.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[3] J. Hogue — Metro Interstate Traffic Volume, UCI Machine Learning Repository (DOI: 10.24432/C5X60B).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I-94 Minneapolis–St Paul, hourly, 2012–2018, 48,204 rows; weather + holiday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Public regression benchmark linking weather, holidays and time to traffic volume; used here for batch analytics.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Single station, hourly granularity — no per-sensor network, no real-time stream, no accident/congestion labels.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792923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Urban congestion and accidents demand both live situational awareness and short-horizon forecasts.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This project builds a streaming analytics pipeline: a Python producer emits traffic events to Kafka; Spark Structured Streaming aggregates them into Parquet; a Streamlit dashboard visualises congestion, accidents and trends.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Separately, RandomForest regressors trained on sampled PEMS-BAY data forecast traffic at 5-, 15- and 60-minute horizons (recorded test R²: 0.966 / 0.889 / 0.600).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The live pipeline is verified end-to-end (Kafka offsets, Spark micro-batches, Parquet output, dashboard); 16/16 project tests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Introduction and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Traffic data has volume (thousands of sensor events), velocity (continuous streams) and variety (events, weather, sensor series) — a classic Big Data problem.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Batch processing explains the past; stream processing (Kafka + Spark Structured Streaming) reacts to the present micro-batch by micro-batch.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Stack: Python producer → Kafka topic traffic-events → Spark aggregation (congestion %, levels, accident counts) → Parquet → Streamlit dashboard + map.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Historical branch: PEMS-BAY sensor windows (12 lag features) → RandomForest models for 5/15/60-min forecasts, shown on a dedicated dashboard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Motivation of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Commuters and traffic managers need to see congestion forming now, not in yesterday's report.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Incidents are rare but costly: accident events must be counted and localised per road and per window.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Short-horizon forecasts (5–60 min) let operators anticipate build-up; our recorded 5-min R² of 0.966 shows near-term predictability.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A reproducible student-scale stack (Docker Compose, local .venv) demonstrates DBMS, batch/streaming and MapReduce ideas on real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Objectives of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Ingest simulated live traffic events through Kafka with a validated, versioned event schema.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Aggregate streams with Spark Structured Streaming into restartable Parquet output (congestion %, four levels, accident counts).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Serve a Streamlit dashboard that degrades gracefully (empty states, filter awareness) and maps per-road status.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Forecast PEMS-BAY traffic at 5/15/60-min horizons with trained RandomForest models and report RMSE/MAE/R² honestly.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Verify everything: 16/16 tests, live offset→batch→Parquet→dashboard evidence, one-command start/stop.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Methodology and Overall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Streaming path: producer (1 event/s, 5 roads, incident injection) → Kafka (3 partitions) → Spark foreachBatch road aggregation every 10 s → Parquet append + checkpointing.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Forecasting path: 12-lag PEMS-BAY windows → per-horizon RandomForest (scikit-learn 1.6.1) → sample predictions + recorded test metrics on the dashboard page.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Batch analytics: schema checks, sensor summaries, throughput stats and a labelled local MapReduce simulation (pandas, not Hadoop).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Engineering: Linux paths, project-local .venv, Docker Compose (Kafka 4.1, Spark 4.0.1 + Kafka connector), scripts/start.sh --full-stack.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Model /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874519" cy="1417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Python
Producer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Times New Roman"/>
              </a:rPr>
              <a:t>1 event/s
validated 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59" y="2537460"/>
            <a:ext cx="47548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44368" y="1828800"/>
            <a:ext cx="1874519" cy="14173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Kafka
traffic-events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Times New Roman"/>
              </a:rPr>
              <a:t>3 partitions
host :9094 / ctr :9092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4607" y="2537460"/>
            <a:ext cx="47548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5816" y="1828800"/>
            <a:ext cx="1874519" cy="14173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Spark Structured
Streaming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Times New Roman"/>
              </a:rPr>
              <a:t>foreachBatch
10 s trigger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06055" y="2537460"/>
            <a:ext cx="47548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827264" y="1828800"/>
            <a:ext cx="1874519" cy="141732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Parquet
traffic_summary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Times New Roman"/>
              </a:rPr>
              <a:t>per-road
aggregates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47504" y="2537460"/>
            <a:ext cx="47548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268712" y="1828800"/>
            <a:ext cx="1874519" cy="14173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Streamlit
Dashboard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Times New Roman"/>
              </a:rPr>
              <a:t>KPIs, trends
map, 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794760"/>
            <a:ext cx="7406640" cy="1051560"/>
          </a:xfrm>
          <a:prstGeom prst="roundRect">
            <a:avLst/>
          </a:prstGeom>
          <a:noFill/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3886200"/>
            <a:ext cx="7040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3864"/>
                </a:solidFill>
                <a:latin typeface="Times New Roman"/>
              </a:defRPr>
            </a:pPr>
            <a:r>
              <a:t>Offline branch:  PEMS-BAY 12-lag windows  →  RandomForest (5 / 15 / 60 min)  →  Forecasting page  (sample predictions + recorded test metrics)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95959"/>
                </a:solidFill>
                <a:latin typeface="Times New Roman"/>
              </a:defRPr>
            </a:pPr>
            <a:r>
              <a:t>Checkpointing makes the stream restartable (at-least-once); dashboard reads the same Parquet the stream writes.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Details of the Dataset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Streaming events: </a:t>
            </a:r>
            <a:r>
              <a:rPr sz="1700">
                <a:solidFill>
                  <a:srgbClr val="262626"/>
                </a:solidFill>
                <a:latin typeface="Times New Roman"/>
              </a:rPr>
              <a:t>Live-simulated stream: 5 roads (Central Avenue, Market Road, Airport Road, River Bridge, Highway Junction) with speed, vehicle counts and accident flags; 60-event bounded run filled Kafka offsets 15/21/24 across 3 partitions.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Metro Interstate: </a:t>
            </a:r>
            <a:r>
              <a:rPr sz="1700">
                <a:solidFill>
                  <a:srgbClr val="262626"/>
                </a:solidFill>
                <a:latin typeface="Times New Roman"/>
              </a:rPr>
              <a:t>Batch analytics data: Metro Interstate Traffic Volume (UCI, Hogue 2019) — 48,204 hourly rows, I-94 Minneapolis–St Paul 2012–2018, weather + holiday features; never substituted for PEMS-BAY.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PEMS-BAY (historical): </a:t>
            </a:r>
            <a:r>
              <a:rPr sz="1700">
                <a:solidFill>
                  <a:srgbClr val="262626"/>
                </a:solidFill>
                <a:latin typeface="Times New Roman"/>
              </a:rPr>
              <a:t>Forecasting data: PEMS-BAY Bay-Area sample (325 sensors, ≤150k rows/split, seed 42) with 12 lag features x_t-11…x_t and targets y_t+1/+3/+12. The small test CSV is still to be placed in data/raw/ — the page shows guidance until then.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Processed output: </a:t>
            </a:r>
            <a:r>
              <a:rPr sz="1700">
                <a:solidFill>
                  <a:srgbClr val="262626"/>
                </a:solidFill>
                <a:latin typeface="Times New Roman"/>
              </a:rPr>
              <a:t>Streaming output: Parquet summaries (window, road, avg speed, congestion %, level, vehicles, accidents) — 700+ rows and growing; zero nulls in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Evaluation Metrics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RMSE (root mean square error): penalises large forecast misses; reported in dataset speed units.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MAE (mean absolute error): average absolute miss; robust companion to RMSE.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R² (coefficient of determination): fraction of variance explained; 1.0 is perfect, 0 equals the mean baseline.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Streaming health: Kafka offsets vs consumed batches, Parquet row growth, null/schema checks, dashboard HTTP 200 with zero log exceptions.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Regression safety: 16/16 pytest checks (serialization, aggregation, empty/malformed handling, metric definitions).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Comparative Results (Recorded Test Metrics)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Times New Roman"/>
              </a:defRPr>
            </a:pPr>
            <a:r>
              <a:t>Recorded test-split metrics from the sampled PEMS-BAY experiment (not live-computed; test CSV pending). Deployed model: RandomForest.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3736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Horizon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RMSE ↓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MAE ↓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R² ↑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Persistence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1.936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0.982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0.960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5 min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HistGradientBoosting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1.818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0.937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0.965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RandomForest 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1.795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0.927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15 min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RandomForest 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3.228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1.531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0.889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60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RandomForest 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6.126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2.965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62626"/>
                          </a:solidFill>
                          <a:latin typeface="Times New Roman"/>
                        </a:defRPr>
                      </a:pPr>
                      <a:r>
                        <a:t>0.600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040880" y="1737360"/>
          <a:ext cx="42976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95959"/>
                </a:solidFill>
                <a:latin typeface="Times New Roman"/>
              </a:defRPr>
            </a:pPr>
            <a:r>
              <a:t>Reading: RandomForest wins all horizons; error grows with horizon (5-min R² 0.966 → 60-min R² 0.600) — near-term traffic is far more predictable.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Implementation Status: Verified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Streaming: </a:t>
            </a:r>
            <a:r>
              <a:rPr sz="1700">
                <a:solidFill>
                  <a:srgbClr val="262626"/>
                </a:solidFill>
                <a:latin typeface="Times New Roman"/>
              </a:rPr>
              <a:t>Producer → Kafka verified: 60 bounded events landed at offsets 15/21/24; schemas match Spark's from_json on all 10 fields.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Processing: </a:t>
            </a:r>
            <a:r>
              <a:rPr sz="1700">
                <a:solidFill>
                  <a:srgbClr val="262626"/>
                </a:solidFill>
                <a:latin typeface="Times New Roman"/>
              </a:rPr>
              <a:t>Spark → Parquet verified: micro-batches (e.g. 5 road summaries) appended; output read back with valid coords, 0 nulls; checkpoint resume reprocessed only the failed batch.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Serving: </a:t>
            </a:r>
            <a:r>
              <a:rPr sz="1700">
                <a:solidFill>
                  <a:srgbClr val="262626"/>
                </a:solidFill>
                <a:latin typeface="Times New Roman"/>
              </a:rPr>
              <a:t>Dashboard verified: HTTP 200, health ok, zero log exceptions with live data; empty-state, filter-empty and missing-CSV warnings all render.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Operations: </a:t>
            </a:r>
            <a:r>
              <a:rPr sz="1700">
                <a:solidFill>
                  <a:srgbClr val="262626"/>
                </a:solidFill>
                <a:latin typeface="Times New Roman"/>
              </a:rPr>
              <a:t>One command runs everything (scripts/start.sh --full-stack, duplicate-safe); scripts/stop.sh stops cleanly without deleting data.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Times New Roman"/>
              </a:rPr>
              <a:t>• Limits: </a:t>
            </a:r>
            <a:r>
              <a:rPr sz="1700">
                <a:solidFill>
                  <a:srgbClr val="262626"/>
                </a:solidFill>
                <a:latin typeface="Times New Roman"/>
              </a:rPr>
              <a:t>Not claimed: browser-pixel rendering; live PEMS-BAY scoring (test CSV absent — sample-level predictions only).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A working Big Data pipeline now runs on Linux: simulated traffic flows from producer to dashboard in ~10-second micro-batches.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Congestion percentage, four congestion levels and accident counts are computed per road and visualised with trends and a live map.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Recorded PEMS-BAY results favour RandomForest at every horizon, with strong short-horizon skill (R² 0.966 at 5 min).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Genuine gaps remain: the PEMS-BAY test CSV must be supplied before live forecast scoring; the map needs a browser check.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Score and monitor the trained models on the full PEMS-BAY test split once the CSV is available; track drift.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Replace/augment the simulator with real sensor or floating-car feeds; add incident alerts.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Explore graph-based forecasters (cf. DCRNN/STGCN in the survey) against the RandomForest baseline.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62626"/>
                </a:solidFill>
                <a:latin typeface="Times New Roman"/>
              </a:rPr>
              <a:t>•  Harden operations: alerting on consumer lag, Parquet retention policy, dashboard authentication.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62626"/>
                </a:solidFill>
                <a:latin typeface="Times New Roman"/>
              </a:rPr>
              <a:t>• [1] </a:t>
            </a:r>
            <a:r>
              <a:rPr sz="1500">
                <a:solidFill>
                  <a:srgbClr val="262626"/>
                </a:solidFill>
                <a:latin typeface="Times New Roman"/>
              </a:rPr>
              <a:t>Y. Li, R. Yu, C. Shahabi, Y. Liu, “Diffusion Convolutional Recurrent Neural Network: Data-Driven Traffic Forecasting,” Proc. ICLR, 2018. (PEMS-BAY: 325 sensors, Bay Area, Jan–May 2017.)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62626"/>
                </a:solidFill>
                <a:latin typeface="Times New Roman"/>
              </a:rPr>
              <a:t>• [2] </a:t>
            </a:r>
            <a:r>
              <a:rPr sz="1500">
                <a:solidFill>
                  <a:srgbClr val="262626"/>
                </a:solidFill>
                <a:latin typeface="Times New Roman"/>
              </a:rPr>
              <a:t>B. Yu, H. Yin, Z. Zhu, “Spatio-Temporal Graph Convolutional Networks: A Deep Learning Framework for Traffic Forecasting,” Proc. IJCAI, pp. 3634–3640, 2018.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62626"/>
                </a:solidFill>
                <a:latin typeface="Times New Roman"/>
              </a:rPr>
              <a:t>• [3] </a:t>
            </a:r>
            <a:r>
              <a:rPr sz="1500">
                <a:solidFill>
                  <a:srgbClr val="262626"/>
                </a:solidFill>
                <a:latin typeface="Times New Roman"/>
              </a:rPr>
              <a:t>J. Hogue, “Metro Interstate Traffic Volume” [Dataset], UCI Machine Learning Repository, 2019. DOI: 10.24432/C5X60B. (I-94, 48,204 hourly rows, 2012–2018.)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62626"/>
                </a:solidFill>
                <a:latin typeface="Times New Roman"/>
              </a:rPr>
              <a:t>• [4] </a:t>
            </a:r>
            <a:r>
              <a:rPr sz="1500">
                <a:solidFill>
                  <a:srgbClr val="262626"/>
                </a:solidFill>
                <a:latin typeface="Times New Roman"/>
              </a:rPr>
              <a:t>Project artefacts: models/experiment_metadata.json (sample spec, seed 42); models/model_comparison.csv (recorded metrics); batch_experiment/data/raw/Metro_Interstate_Traffic_Volume.csv.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82296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0000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144768"/>
            <a:ext cx="10543032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199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Department of Computer Science and Engineering, School of Computing  |  AMARAVATI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1996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95959"/>
                </a:solidFill>
                <a:latin typeface="Times New Roman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C00000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95959"/>
                </a:solidFill>
                <a:latin typeface="Times New Roman"/>
              </a:defRPr>
            </a:pPr>
            <a:r>
              <a:t>Questions and discussion are welcome.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2626"/>
                </a:solidFill>
                <a:latin typeface="Times New Roman"/>
              </a:defRPr>
            </a:pPr>
            <a:r>
              <a:t>Guide: Dr. V Lakshmi Chetana, Assistant Professor (Sl. Gr.), Dept. of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144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Times New Roman</vt:lpstr>
      <vt:lpstr>Wingdings</vt:lpstr>
      <vt:lpstr>Office Theme</vt:lpstr>
      <vt:lpstr>PowerPoint Presentation</vt:lpstr>
      <vt:lpstr>Agenda</vt:lpstr>
      <vt:lpstr>Literature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Lakshmi Chetana V</cp:lastModifiedBy>
  <cp:revision>12</cp:revision>
  <dcterms:created xsi:type="dcterms:W3CDTF">2025-02-14T23:17:08Z</dcterms:created>
  <dcterms:modified xsi:type="dcterms:W3CDTF">2025-03-21T17:35:17Z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2025-02-14T00:00:00Z</vt:filetime>
  </property>
  <property fmtid="{D5CDD505-2E9C-101B-9397-08002B2CF9AE}" pid="5" name="Producer">
    <vt:lpwstr>www.ilovepdf.com</vt:lpwstr>
  </property>
</Properties>
</file>